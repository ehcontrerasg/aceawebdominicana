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22"/>
  </p:notesMasterIdLst>
  <p:handoutMasterIdLst>
    <p:handoutMasterId r:id="rId23"/>
  </p:handoutMasterIdLst>
  <p:sldIdLst>
    <p:sldId id="3319" r:id="rId5"/>
    <p:sldId id="3323" r:id="rId6"/>
    <p:sldId id="3320" r:id="rId7"/>
    <p:sldId id="3324" r:id="rId8"/>
    <p:sldId id="3325" r:id="rId9"/>
    <p:sldId id="3327" r:id="rId10"/>
    <p:sldId id="3328" r:id="rId11"/>
    <p:sldId id="3330" r:id="rId12"/>
    <p:sldId id="3329" r:id="rId13"/>
    <p:sldId id="3326" r:id="rId14"/>
    <p:sldId id="3331" r:id="rId15"/>
    <p:sldId id="3332" r:id="rId16"/>
    <p:sldId id="3333" r:id="rId17"/>
    <p:sldId id="3334" r:id="rId18"/>
    <p:sldId id="3335" r:id="rId19"/>
    <p:sldId id="3336" r:id="rId20"/>
    <p:sldId id="3318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5564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orient="horz" pos="3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B0"/>
    <a:srgbClr val="CC00FF"/>
    <a:srgbClr val="FF99FF"/>
    <a:srgbClr val="646363"/>
    <a:srgbClr val="E7E6E6"/>
    <a:srgbClr val="005157"/>
    <a:srgbClr val="63666F"/>
    <a:srgbClr val="FFFFFF"/>
    <a:srgbClr val="016773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3EBD1-8052-4D34-BF4D-5DEA8370825C}" v="7" dt="2025-01-27T13:29:24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3680"/>
        <p:guide pos="619"/>
        <p:guide pos="5564"/>
        <p:guide orient="horz" pos="4088"/>
        <p:guide pos="7242"/>
        <p:guide orient="horz" pos="340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61C693C-F9E3-1A8A-F547-9FCE8D78C3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B8286A-7B87-5225-9E77-92490A78B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1DE13-AA0A-C24D-A42B-071A97F467C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FE1884-2101-A66B-5796-E4DD38978C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520C17-E974-8B72-4A8E-9938ED11A5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392A3-E7B4-EB45-B95B-07B06475653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76815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49A8D-DBA4-4D23-B50E-A13F885167F8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C364B-DEEF-4893-B089-EE873A98BB2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07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586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60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FDCF-2241-D192-B923-E3D05BE2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D3D2854-2F02-A455-2B91-9A0EDEFED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3174FBF-7E9A-73BE-D233-3D06EDA32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7C7703-9EB5-BBE2-7E2C-2C7761497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36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FA96-97C4-C8EE-2BFE-B1C1E5BA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AE21A1-8B44-A33A-ACD1-91B3189F4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1A95493-1FBD-1B79-373D-C1CFC9CC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EF3935-6093-E413-99EF-EEAE59645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716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sb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844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67F5-4D75-FA5B-7418-C177C552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8C6B82-464A-5FF2-CB5F-B7F8A522C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EEF59B6-B649-D24F-236B-6EECAB290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954F8F-6933-D593-B434-AFFC79484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3385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B386-2363-74A3-049F-48A75D93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370ADD-04DA-FC7D-64D9-03B48E680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08515F-5D31-557B-7255-4C61D1F6C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759D99-539F-A96A-55D6-4DA749367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C364B-DEEF-4893-B089-EE873A98BB21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561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EC1352-1CB8-6557-3E28-0F6924A74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7689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421" imgH="423" progId="TCLayout.ActiveDocument.1">
                  <p:embed/>
                </p:oleObj>
              </mc:Choice>
              <mc:Fallback>
                <p:oleObj name="Diapositiva think-cell" r:id="rId3" imgW="421" imgH="42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EC1352-1CB8-6557-3E28-0F6924A74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olo 1">
            <a:extLst>
              <a:ext uri="{FF2B5EF4-FFF2-40B4-BE49-F238E27FC236}">
                <a16:creationId xmlns:a16="http://schemas.microsoft.com/office/drawing/2014/main" id="{3B8518FD-B99C-CB4D-BEBE-CA62B3DD5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2589" y="2892779"/>
            <a:ext cx="6691059" cy="1248553"/>
          </a:xfrm>
        </p:spPr>
        <p:txBody>
          <a:bodyPr vert="horz" bIns="0" anchor="t" anchorCtr="0">
            <a:normAutofit/>
          </a:bodyPr>
          <a:lstStyle>
            <a:lvl1pPr>
              <a:defRPr lang="it-IT" sz="2400" b="1" i="0" kern="1200" spc="300" dirty="0">
                <a:solidFill>
                  <a:srgbClr val="00A8B0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</a:lstStyle>
          <a:p>
            <a:r>
              <a:rPr lang="it-IT"/>
              <a:t>TITOLO PRESENTAZIONE</a:t>
            </a:r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26E4797A-EE49-4AC4-E616-77162A6AA1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2589" y="4155620"/>
            <a:ext cx="5521591" cy="395767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200"/>
              </a:spcAft>
              <a:buFontTx/>
              <a:buNone/>
              <a:defRPr lang="it-IT" sz="2400" b="0" i="0" kern="1200" spc="300" dirty="0" smtClean="0">
                <a:solidFill>
                  <a:srgbClr val="646363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3pPr>
          </a:lstStyle>
          <a:p>
            <a:pPr lvl="0"/>
            <a:r>
              <a:rPr lang="it-IT"/>
              <a:t>SOTTOTITOLO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CF4CDA0D-6E9F-2643-03BA-1725588618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589" y="4552326"/>
            <a:ext cx="5521591" cy="395768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200"/>
              </a:spcAft>
              <a:buFontTx/>
              <a:buNone/>
              <a:defRPr lang="it-IT" sz="2400" b="0" kern="1200" spc="300" dirty="0" smtClean="0">
                <a:solidFill>
                  <a:srgbClr val="646363"/>
                </a:solidFill>
                <a:latin typeface="+mj-lt"/>
                <a:ea typeface="+mj-ea"/>
                <a:cs typeface="+mj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1800" b="0" i="0" kern="1200" spc="225" dirty="0" smtClean="0">
                <a:solidFill>
                  <a:srgbClr val="646363"/>
                </a:solidFill>
                <a:latin typeface="Gill Sans" panose="020B0502020104020203" pitchFamily="34" charset="-79"/>
                <a:ea typeface="Gill Sans" panose="020B0502020104020203" pitchFamily="34" charset="-79"/>
                <a:cs typeface="Gill Sans" panose="020B0502020104020203" pitchFamily="34" charset="-79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3pPr>
          </a:lstStyle>
          <a:p>
            <a:pPr lvl="1"/>
            <a:r>
              <a:rPr lang="it-IT"/>
              <a:t>LUOGO E DATA</a:t>
            </a:r>
          </a:p>
        </p:txBody>
      </p:sp>
      <p:pic>
        <p:nvPicPr>
          <p:cNvPr id="3" name="Immagine 2" descr="Immagine che contiene Elementi grafici, Carattere, testo, cerchio&#10;&#10;Descrizione generata automaticamente">
            <a:extLst>
              <a:ext uri="{FF2B5EF4-FFF2-40B4-BE49-F238E27FC236}">
                <a16:creationId xmlns:a16="http://schemas.microsoft.com/office/drawing/2014/main" id="{597CAF26-E27C-ACF7-CB53-DB1F930CFC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63" y="728663"/>
            <a:ext cx="1703596" cy="222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5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02">
    <p:bg>
      <p:bgPr>
        <a:solidFill>
          <a:srgbClr val="00A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5E80184-CB8F-39B4-3A72-0EE587FCD5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0267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421" imgH="423" progId="TCLayout.ActiveDocument.1">
                  <p:embed/>
                </p:oleObj>
              </mc:Choice>
              <mc:Fallback>
                <p:oleObj name="Diapositiva think-cell" r:id="rId3" imgW="421" imgH="42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E80184-CB8F-39B4-3A72-0EE587FCD5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olo 1">
            <a:extLst>
              <a:ext uri="{FF2B5EF4-FFF2-40B4-BE49-F238E27FC236}">
                <a16:creationId xmlns:a16="http://schemas.microsoft.com/office/drawing/2014/main" id="{3B8518FD-B99C-CB4D-BEBE-CA62B3DD5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2589" y="2892779"/>
            <a:ext cx="6691059" cy="1248553"/>
          </a:xfrm>
        </p:spPr>
        <p:txBody>
          <a:bodyPr vert="horz" bIns="0" anchor="t" anchorCtr="0">
            <a:noAutofit/>
          </a:bodyPr>
          <a:lstStyle>
            <a:lvl1pPr>
              <a:defRPr lang="it-IT" sz="2400" b="1" i="0" kern="1200" spc="300" dirty="0">
                <a:solidFill>
                  <a:schemeClr val="bg1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</a:lstStyle>
          <a:p>
            <a:r>
              <a:rPr lang="it-IT"/>
              <a:t>TITOLO PRESENTAZIONE</a:t>
            </a:r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26E4797A-EE49-4AC4-E616-77162A6AA1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2589" y="4141332"/>
            <a:ext cx="5521591" cy="395767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200"/>
              </a:spcAft>
              <a:buFontTx/>
              <a:buNone/>
              <a:defRPr lang="it-IT" sz="2400" b="0" i="0" kern="1200" spc="300" dirty="0" smtClean="0">
                <a:solidFill>
                  <a:schemeClr val="bg1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3pPr>
          </a:lstStyle>
          <a:p>
            <a:pPr lvl="0"/>
            <a:r>
              <a:rPr lang="it-IT"/>
              <a:t>SOTTOTITOLO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CF4CDA0D-6E9F-2643-03BA-1725588618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589" y="4538038"/>
            <a:ext cx="5521591" cy="395768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200"/>
              </a:spcAft>
              <a:buFontTx/>
              <a:buNone/>
              <a:defRPr lang="it-IT" sz="2400" b="0" kern="1200" spc="300" dirty="0" smtClean="0">
                <a:solidFill>
                  <a:srgbClr val="646363"/>
                </a:solidFill>
                <a:latin typeface="+mj-lt"/>
                <a:ea typeface="+mj-ea"/>
                <a:cs typeface="+mj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1800" b="0" i="0" kern="1200" spc="225" dirty="0" smtClean="0">
                <a:solidFill>
                  <a:schemeClr val="bg1"/>
                </a:solidFill>
                <a:latin typeface="Gill Sans" panose="020B0502020104020203" pitchFamily="34" charset="-79"/>
                <a:ea typeface="Gill Sans" panose="020B0502020104020203" pitchFamily="34" charset="-79"/>
                <a:cs typeface="Gill Sans" panose="020B0502020104020203" pitchFamily="34" charset="-79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3pPr>
          </a:lstStyle>
          <a:p>
            <a:pPr lvl="1"/>
            <a:r>
              <a:rPr lang="it-IT"/>
              <a:t>LUOGO E DATA</a:t>
            </a:r>
          </a:p>
        </p:txBody>
      </p:sp>
      <p:pic>
        <p:nvPicPr>
          <p:cNvPr id="4" name="Immagine 3" descr="Immagine che contiene testo, Carattere, Elementi grafici, cerchio&#10;&#10;Descrizione generata automaticamente">
            <a:extLst>
              <a:ext uri="{FF2B5EF4-FFF2-40B4-BE49-F238E27FC236}">
                <a16:creationId xmlns:a16="http://schemas.microsoft.com/office/drawing/2014/main" id="{B4FAFA46-3CDE-76AE-4BAC-8305721E829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59" y="669488"/>
            <a:ext cx="1735200" cy="23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">
    <p:bg>
      <p:bgPr>
        <a:solidFill>
          <a:srgbClr val="00A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2A40DC1-3022-1AFC-E9D4-DD661EEA91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34480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421" imgH="423" progId="TCLayout.ActiveDocument.1">
                  <p:embed/>
                </p:oleObj>
              </mc:Choice>
              <mc:Fallback>
                <p:oleObj name="Diapositiva think-cell" r:id="rId3" imgW="421" imgH="42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A40DC1-3022-1AFC-E9D4-DD661EEA91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olo 1">
            <a:extLst>
              <a:ext uri="{FF2B5EF4-FFF2-40B4-BE49-F238E27FC236}">
                <a16:creationId xmlns:a16="http://schemas.microsoft.com/office/drawing/2014/main" id="{3B8518FD-B99C-CB4D-BEBE-CA62B3DD5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4897" y="2407444"/>
            <a:ext cx="6691059" cy="1248553"/>
          </a:xfrm>
        </p:spPr>
        <p:txBody>
          <a:bodyPr vert="horz" bIns="0" anchor="t" anchorCtr="0">
            <a:normAutofit/>
          </a:bodyPr>
          <a:lstStyle>
            <a:lvl1pPr>
              <a:defRPr lang="it-IT" sz="2400" b="1" i="0" kern="1200" spc="300" dirty="0">
                <a:solidFill>
                  <a:schemeClr val="bg1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</a:lstStyle>
          <a:p>
            <a:r>
              <a:rPr lang="it-IT"/>
              <a:t>DIVISORIO SEZIONE</a:t>
            </a:r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26E4797A-EE49-4AC4-E616-77162A6AA1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4897" y="3655997"/>
            <a:ext cx="5521591" cy="395767"/>
          </a:xfrm>
        </p:spPr>
        <p:txBody>
          <a:bodyPr anchor="t" anchorCtr="0"/>
          <a:lstStyle>
            <a:lvl1pPr marL="0" indent="0">
              <a:spcAft>
                <a:spcPts val="1200"/>
              </a:spcAft>
              <a:buFontTx/>
              <a:buNone/>
              <a:defRPr lang="it-IT" sz="2400" b="0" i="0" kern="1200" spc="300" dirty="0" smtClean="0">
                <a:solidFill>
                  <a:schemeClr val="bg1"/>
                </a:solidFill>
                <a:latin typeface="Gill Sans" panose="020B0502020104020203" pitchFamily="34" charset="-79"/>
                <a:ea typeface="+mj-ea"/>
                <a:cs typeface="Gill Sans" panose="020B0502020104020203" pitchFamily="34" charset="-79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800" kern="1200" spc="225" dirty="0" smtClean="0">
                <a:solidFill>
                  <a:srgbClr val="646363"/>
                </a:solidFill>
                <a:latin typeface="Gill Sans MT" panose="020B0502020104020203" pitchFamily="34" charset="77"/>
                <a:ea typeface="Montserrat" charset="0"/>
                <a:cs typeface="Montserrat" charset="0"/>
              </a:defRPr>
            </a:lvl3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110706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a tito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D6AAF89-E9F3-0B27-8F1A-8807A67382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361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515" imgH="516" progId="TCLayout.ActiveDocument.1">
                  <p:embed/>
                </p:oleObj>
              </mc:Choice>
              <mc:Fallback>
                <p:oleObj name="Diapositiva think-cell" r:id="rId3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AAF89-E9F3-0B27-8F1A-8807A67382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0424EC-65AE-08A8-F041-8E7642D3E4AA}"/>
              </a:ext>
            </a:extLst>
          </p:cNvPr>
          <p:cNvSpPr txBox="1"/>
          <p:nvPr userDrawn="1"/>
        </p:nvSpPr>
        <p:spPr>
          <a:xfrm>
            <a:off x="11403259" y="6515627"/>
            <a:ext cx="739282" cy="261610"/>
          </a:xfrm>
          <a:prstGeom prst="rect">
            <a:avLst/>
          </a:prstGeom>
          <a:noFill/>
        </p:spPr>
        <p:txBody>
          <a:bodyPr wrap="square" bIns="0" rtlCol="0" anchor="b" anchorCtr="0">
            <a:spAutoFit/>
          </a:bodyPr>
          <a:lstStyle/>
          <a:p>
            <a:pPr algn="r"/>
            <a:fld id="{FAE6D704-2254-C740-A099-004F905C5A91}" type="slidenum">
              <a:rPr lang="it-IT" sz="14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pPr algn="r"/>
              <a:t>‹N›</a:t>
            </a:fld>
            <a:endParaRPr lang="it-IT" sz="1400" b="0" i="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1" name="Rettangolo con un angolo arrotondato 10">
            <a:extLst>
              <a:ext uri="{FF2B5EF4-FFF2-40B4-BE49-F238E27FC236}">
                <a16:creationId xmlns:a16="http://schemas.microsoft.com/office/drawing/2014/main" id="{BA4224A8-D125-DFB9-B743-DBBBE84160B7}"/>
              </a:ext>
            </a:extLst>
          </p:cNvPr>
          <p:cNvSpPr/>
          <p:nvPr userDrawn="1"/>
        </p:nvSpPr>
        <p:spPr>
          <a:xfrm>
            <a:off x="0" y="0"/>
            <a:ext cx="4027124" cy="6858000"/>
          </a:xfrm>
          <a:prstGeom prst="round1Rect">
            <a:avLst>
              <a:gd name="adj" fmla="val 9807"/>
            </a:avLst>
          </a:prstGeom>
          <a:solidFill>
            <a:srgbClr val="00A8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i="0">
              <a:latin typeface="Gill Sans SemiBold" panose="020B0502020104020203" pitchFamily="34" charset="-79"/>
              <a:cs typeface="Gill Sans SemiBold" panose="020B0502020104020203" pitchFamily="34" charset="-79"/>
            </a:endParaRPr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BD45B3F2-911F-77AB-2EE9-11BA4FDCA7A4}"/>
              </a:ext>
            </a:extLst>
          </p:cNvPr>
          <p:cNvGrpSpPr/>
          <p:nvPr userDrawn="1"/>
        </p:nvGrpSpPr>
        <p:grpSpPr>
          <a:xfrm>
            <a:off x="3785948" y="656628"/>
            <a:ext cx="808086" cy="808088"/>
            <a:chOff x="7819526" y="4904876"/>
            <a:chExt cx="1658345" cy="1658349"/>
          </a:xfrm>
        </p:grpSpPr>
        <p:sp>
          <p:nvSpPr>
            <p:cNvPr id="16" name="Oval 3">
              <a:extLst>
                <a:ext uri="{FF2B5EF4-FFF2-40B4-BE49-F238E27FC236}">
                  <a16:creationId xmlns:a16="http://schemas.microsoft.com/office/drawing/2014/main" id="{C75B3686-4A6A-5AB7-6CA8-05F8754097D4}"/>
                </a:ext>
              </a:extLst>
            </p:cNvPr>
            <p:cNvSpPr/>
            <p:nvPr/>
          </p:nvSpPr>
          <p:spPr>
            <a:xfrm>
              <a:off x="7819526" y="4904876"/>
              <a:ext cx="1658345" cy="1658349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165100" dir="2700000" algn="tl" rotWithShape="0">
                <a:prstClr val="black">
                  <a:alpha val="13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i="0">
                <a:latin typeface="Gill Sans SemiBold" panose="020B0502020104020203" pitchFamily="34" charset="-79"/>
                <a:cs typeface="Gill Sans SemiBold" panose="020B0502020104020203" pitchFamily="34" charset="-79"/>
              </a:endParaRPr>
            </a:p>
          </p:txBody>
        </p:sp>
        <p:sp>
          <p:nvSpPr>
            <p:cNvPr id="17" name="Freeform 117">
              <a:extLst>
                <a:ext uri="{FF2B5EF4-FFF2-40B4-BE49-F238E27FC236}">
                  <a16:creationId xmlns:a16="http://schemas.microsoft.com/office/drawing/2014/main" id="{418FA756-E14D-3871-01C2-87319D540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2097" y="5395362"/>
              <a:ext cx="678596" cy="636648"/>
            </a:xfrm>
            <a:custGeom>
              <a:avLst/>
              <a:gdLst>
                <a:gd name="T0" fmla="*/ 457 w 458"/>
                <a:gd name="T1" fmla="*/ 221 h 472"/>
                <a:gd name="T2" fmla="*/ 457 w 458"/>
                <a:gd name="T3" fmla="*/ 221 h 472"/>
                <a:gd name="T4" fmla="*/ 236 w 458"/>
                <a:gd name="T5" fmla="*/ 15 h 472"/>
                <a:gd name="T6" fmla="*/ 206 w 458"/>
                <a:gd name="T7" fmla="*/ 15 h 472"/>
                <a:gd name="T8" fmla="*/ 206 w 458"/>
                <a:gd name="T9" fmla="*/ 44 h 472"/>
                <a:gd name="T10" fmla="*/ 412 w 458"/>
                <a:gd name="T11" fmla="*/ 235 h 472"/>
                <a:gd name="T12" fmla="*/ 206 w 458"/>
                <a:gd name="T13" fmla="*/ 442 h 472"/>
                <a:gd name="T14" fmla="*/ 206 w 458"/>
                <a:gd name="T15" fmla="*/ 471 h 472"/>
                <a:gd name="T16" fmla="*/ 236 w 458"/>
                <a:gd name="T17" fmla="*/ 471 h 472"/>
                <a:gd name="T18" fmla="*/ 457 w 458"/>
                <a:gd name="T19" fmla="*/ 250 h 472"/>
                <a:gd name="T20" fmla="*/ 457 w 458"/>
                <a:gd name="T21" fmla="*/ 235 h 472"/>
                <a:gd name="T22" fmla="*/ 457 w 458"/>
                <a:gd name="T23" fmla="*/ 221 h 472"/>
                <a:gd name="T24" fmla="*/ 221 w 458"/>
                <a:gd name="T25" fmla="*/ 235 h 472"/>
                <a:gd name="T26" fmla="*/ 221 w 458"/>
                <a:gd name="T27" fmla="*/ 235 h 472"/>
                <a:gd name="T28" fmla="*/ 221 w 458"/>
                <a:gd name="T29" fmla="*/ 221 h 472"/>
                <a:gd name="T30" fmla="*/ 44 w 458"/>
                <a:gd name="T31" fmla="*/ 44 h 472"/>
                <a:gd name="T32" fmla="*/ 15 w 458"/>
                <a:gd name="T33" fmla="*/ 44 h 472"/>
                <a:gd name="T34" fmla="*/ 15 w 458"/>
                <a:gd name="T35" fmla="*/ 74 h 472"/>
                <a:gd name="T36" fmla="*/ 177 w 458"/>
                <a:gd name="T37" fmla="*/ 235 h 472"/>
                <a:gd name="T38" fmla="*/ 15 w 458"/>
                <a:gd name="T39" fmla="*/ 397 h 472"/>
                <a:gd name="T40" fmla="*/ 15 w 458"/>
                <a:gd name="T41" fmla="*/ 427 h 472"/>
                <a:gd name="T42" fmla="*/ 44 w 458"/>
                <a:gd name="T43" fmla="*/ 427 h 472"/>
                <a:gd name="T44" fmla="*/ 221 w 458"/>
                <a:gd name="T45" fmla="*/ 250 h 472"/>
                <a:gd name="T46" fmla="*/ 221 w 458"/>
                <a:gd name="T47" fmla="*/ 23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472">
                  <a:moveTo>
                    <a:pt x="457" y="221"/>
                  </a:moveTo>
                  <a:lnTo>
                    <a:pt x="457" y="221"/>
                  </a:lnTo>
                  <a:cubicBezTo>
                    <a:pt x="236" y="15"/>
                    <a:pt x="236" y="15"/>
                    <a:pt x="236" y="15"/>
                  </a:cubicBezTo>
                  <a:cubicBezTo>
                    <a:pt x="236" y="0"/>
                    <a:pt x="221" y="0"/>
                    <a:pt x="206" y="15"/>
                  </a:cubicBezTo>
                  <a:cubicBezTo>
                    <a:pt x="206" y="15"/>
                    <a:pt x="206" y="30"/>
                    <a:pt x="206" y="44"/>
                  </a:cubicBezTo>
                  <a:cubicBezTo>
                    <a:pt x="412" y="235"/>
                    <a:pt x="412" y="235"/>
                    <a:pt x="412" y="235"/>
                  </a:cubicBezTo>
                  <a:cubicBezTo>
                    <a:pt x="206" y="442"/>
                    <a:pt x="206" y="442"/>
                    <a:pt x="206" y="442"/>
                  </a:cubicBezTo>
                  <a:cubicBezTo>
                    <a:pt x="206" y="456"/>
                    <a:pt x="206" y="456"/>
                    <a:pt x="206" y="471"/>
                  </a:cubicBezTo>
                  <a:cubicBezTo>
                    <a:pt x="221" y="471"/>
                    <a:pt x="236" y="471"/>
                    <a:pt x="236" y="471"/>
                  </a:cubicBezTo>
                  <a:cubicBezTo>
                    <a:pt x="457" y="250"/>
                    <a:pt x="457" y="250"/>
                    <a:pt x="457" y="250"/>
                  </a:cubicBezTo>
                  <a:cubicBezTo>
                    <a:pt x="457" y="250"/>
                    <a:pt x="457" y="250"/>
                    <a:pt x="457" y="235"/>
                  </a:cubicBezTo>
                  <a:cubicBezTo>
                    <a:pt x="457" y="235"/>
                    <a:pt x="457" y="235"/>
                    <a:pt x="457" y="221"/>
                  </a:cubicBezTo>
                  <a:close/>
                  <a:moveTo>
                    <a:pt x="221" y="235"/>
                  </a:moveTo>
                  <a:lnTo>
                    <a:pt x="221" y="235"/>
                  </a:lnTo>
                  <a:cubicBezTo>
                    <a:pt x="221" y="235"/>
                    <a:pt x="221" y="235"/>
                    <a:pt x="221" y="221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0" y="44"/>
                    <a:pt x="15" y="44"/>
                    <a:pt x="15" y="44"/>
                  </a:cubicBezTo>
                  <a:cubicBezTo>
                    <a:pt x="0" y="59"/>
                    <a:pt x="0" y="74"/>
                    <a:pt x="15" y="74"/>
                  </a:cubicBezTo>
                  <a:cubicBezTo>
                    <a:pt x="177" y="235"/>
                    <a:pt x="177" y="235"/>
                    <a:pt x="177" y="235"/>
                  </a:cubicBezTo>
                  <a:cubicBezTo>
                    <a:pt x="15" y="397"/>
                    <a:pt x="15" y="397"/>
                    <a:pt x="15" y="397"/>
                  </a:cubicBezTo>
                  <a:cubicBezTo>
                    <a:pt x="0" y="412"/>
                    <a:pt x="0" y="427"/>
                    <a:pt x="15" y="427"/>
                  </a:cubicBezTo>
                  <a:cubicBezTo>
                    <a:pt x="15" y="442"/>
                    <a:pt x="30" y="442"/>
                    <a:pt x="44" y="427"/>
                  </a:cubicBezTo>
                  <a:cubicBezTo>
                    <a:pt x="221" y="250"/>
                    <a:pt x="221" y="250"/>
                    <a:pt x="221" y="250"/>
                  </a:cubicBezTo>
                  <a:cubicBezTo>
                    <a:pt x="221" y="250"/>
                    <a:pt x="221" y="250"/>
                    <a:pt x="221" y="235"/>
                  </a:cubicBezTo>
                  <a:close/>
                </a:path>
              </a:pathLst>
            </a:custGeom>
            <a:solidFill>
              <a:srgbClr val="00A8B0"/>
            </a:solidFill>
            <a:ln w="12700">
              <a:solidFill>
                <a:srgbClr val="00A8B0"/>
              </a:solidFill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b="1" i="0">
                <a:latin typeface="Gill Sans SemiBold" panose="020B0502020104020203" pitchFamily="34" charset="-79"/>
                <a:ea typeface="+mn-ea"/>
                <a:cs typeface="Gill Sans SemiBold" panose="020B0502020104020203" pitchFamily="34" charset="-79"/>
              </a:endParaRPr>
            </a:p>
          </p:txBody>
        </p:sp>
      </p:grpSp>
      <p:sp>
        <p:nvSpPr>
          <p:cNvPr id="18" name="Titolo 6">
            <a:extLst>
              <a:ext uri="{FF2B5EF4-FFF2-40B4-BE49-F238E27FC236}">
                <a16:creationId xmlns:a16="http://schemas.microsoft.com/office/drawing/2014/main" id="{1236C066-EBFC-708B-CF32-71078F91014B}"/>
              </a:ext>
            </a:extLst>
          </p:cNvPr>
          <p:cNvSpPr txBox="1">
            <a:spLocks/>
          </p:cNvSpPr>
          <p:nvPr userDrawn="1"/>
        </p:nvSpPr>
        <p:spPr>
          <a:xfrm>
            <a:off x="463463" y="444168"/>
            <a:ext cx="3563661" cy="4514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4636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000" b="1" i="0">
                <a:solidFill>
                  <a:schemeClr val="bg1"/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Indice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02D9F70-BF8A-531F-93CC-0348BD6664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37188" y="691196"/>
            <a:ext cx="6791285" cy="356116"/>
          </a:xfrm>
        </p:spPr>
        <p:txBody>
          <a:bodyPr anchor="t" anchorCtr="0">
            <a:normAutofit/>
          </a:bodyPr>
          <a:lstStyle>
            <a:lvl1pPr marL="0" indent="0" algn="l" defTabSz="914058" rtl="0" eaLnBrk="1" latinLnBrk="0" hangingPunct="1">
              <a:lnSpc>
                <a:spcPct val="80000"/>
              </a:lnSpc>
              <a:buNone/>
              <a:defRPr lang="it-IT" sz="2200" b="1" i="0" kern="0" dirty="0" smtClean="0">
                <a:solidFill>
                  <a:srgbClr val="00A8B0"/>
                </a:solidFill>
                <a:latin typeface="Gill Sans SemiBold" panose="020B0502020104020203" pitchFamily="34" charset="-79"/>
                <a:ea typeface="ＭＳ Ｐゴシック" pitchFamily="1" charset="-128"/>
                <a:cs typeface="Gill Sans SemiBold" panose="020B0502020104020203" pitchFamily="34" charset="-79"/>
              </a:defRPr>
            </a:lvl1pPr>
          </a:lstStyle>
          <a:p>
            <a:pPr lvl="0"/>
            <a:r>
              <a:rPr lang="it-IT"/>
              <a:t>TITOLO CAPITOLO I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39604D4-7F65-82B5-7458-2E2AE4534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7189" y="2243742"/>
            <a:ext cx="6791284" cy="356116"/>
          </a:xfrm>
        </p:spPr>
        <p:txBody>
          <a:bodyPr anchor="t" anchorCtr="0">
            <a:normAutofit/>
          </a:bodyPr>
          <a:lstStyle>
            <a:lvl1pPr marL="0" indent="0" algn="l" defTabSz="914058" rtl="0" eaLnBrk="1" latinLnBrk="0" hangingPunct="1">
              <a:lnSpc>
                <a:spcPct val="80000"/>
              </a:lnSpc>
              <a:buNone/>
              <a:defRPr lang="it-IT" sz="2200" b="1" i="0" kern="0" dirty="0" smtClean="0">
                <a:solidFill>
                  <a:srgbClr val="00A8B0"/>
                </a:solidFill>
                <a:latin typeface="Gill Sans SemiBold" panose="020B0502020104020203" pitchFamily="34" charset="-79"/>
                <a:ea typeface="ＭＳ Ｐゴシック" pitchFamily="1" charset="-128"/>
                <a:cs typeface="Gill Sans SemiBold" panose="020B0502020104020203" pitchFamily="34" charset="-79"/>
              </a:defRPr>
            </a:lvl1pPr>
          </a:lstStyle>
          <a:p>
            <a:pPr lvl="0"/>
            <a:r>
              <a:rPr lang="it-IT"/>
              <a:t>TITOLO CAPITOLO 2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F39EF81C-5767-7C59-D5C9-3A239F7FC4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7188" y="3824509"/>
            <a:ext cx="6791285" cy="356116"/>
          </a:xfrm>
        </p:spPr>
        <p:txBody>
          <a:bodyPr anchor="t" anchorCtr="0">
            <a:normAutofit/>
          </a:bodyPr>
          <a:lstStyle>
            <a:lvl1pPr marL="0" indent="0" algn="l" defTabSz="914058" rtl="0" eaLnBrk="1" latinLnBrk="0" hangingPunct="1">
              <a:lnSpc>
                <a:spcPct val="80000"/>
              </a:lnSpc>
              <a:buNone/>
              <a:defRPr lang="it-IT" sz="2200" b="1" i="0" kern="0" dirty="0" smtClean="0">
                <a:solidFill>
                  <a:srgbClr val="00A8B0"/>
                </a:solidFill>
                <a:latin typeface="Gill Sans SemiBold" panose="020B0502020104020203" pitchFamily="34" charset="-79"/>
                <a:ea typeface="ＭＳ Ｐゴシック" pitchFamily="1" charset="-128"/>
                <a:cs typeface="Gill Sans SemiBold" panose="020B0502020104020203" pitchFamily="34" charset="-79"/>
              </a:defRPr>
            </a:lvl1pPr>
          </a:lstStyle>
          <a:p>
            <a:pPr lvl="0"/>
            <a:r>
              <a:rPr lang="it-IT"/>
              <a:t>TITOLO CAPITOLO 3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BDFE6426-2B3A-8DEA-2121-5D20CD1C35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8307" y="5356444"/>
            <a:ext cx="6791283" cy="356116"/>
          </a:xfrm>
        </p:spPr>
        <p:txBody>
          <a:bodyPr anchor="t" anchorCtr="0">
            <a:normAutofit/>
          </a:bodyPr>
          <a:lstStyle>
            <a:lvl1pPr marL="0" indent="0" algn="l" defTabSz="914058" rtl="0" eaLnBrk="1" latinLnBrk="0" hangingPunct="1">
              <a:lnSpc>
                <a:spcPct val="80000"/>
              </a:lnSpc>
              <a:buNone/>
              <a:defRPr lang="it-IT" sz="2200" b="1" i="0" kern="0" dirty="0" smtClean="0">
                <a:solidFill>
                  <a:srgbClr val="00A8B0"/>
                </a:solidFill>
                <a:latin typeface="Gill Sans SemiBold" panose="020B0502020104020203" pitchFamily="34" charset="-79"/>
                <a:ea typeface="ＭＳ Ｐゴシック" pitchFamily="1" charset="-128"/>
                <a:cs typeface="Gill Sans SemiBold" panose="020B0502020104020203" pitchFamily="34" charset="-79"/>
              </a:defRPr>
            </a:lvl1pPr>
          </a:lstStyle>
          <a:p>
            <a:pPr lvl="0"/>
            <a:r>
              <a:rPr lang="it-IT"/>
              <a:t>TITOLO CAPITOLO 4</a:t>
            </a:r>
          </a:p>
        </p:txBody>
      </p:sp>
      <p:sp>
        <p:nvSpPr>
          <p:cNvPr id="26" name="Segnaposto testo 25">
            <a:extLst>
              <a:ext uri="{FF2B5EF4-FFF2-40B4-BE49-F238E27FC236}">
                <a16:creationId xmlns:a16="http://schemas.microsoft.com/office/drawing/2014/main" id="{41FAE3C1-7570-DBE8-DBCC-65BC085D8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7189" y="1088429"/>
            <a:ext cx="6791286" cy="647408"/>
          </a:xfrm>
        </p:spPr>
        <p:txBody>
          <a:bodyPr anchor="t" anchorCtr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it-IT" sz="1400" b="0" i="0" kern="1200" spc="150" dirty="0" smtClean="0">
                <a:solidFill>
                  <a:srgbClr val="646363"/>
                </a:solidFill>
                <a:latin typeface="Gill Sans" panose="020B0502020104020203" pitchFamily="34" charset="-79"/>
                <a:ea typeface="+mn-ea"/>
                <a:cs typeface="Gill Sans" panose="020B0502020104020203" pitchFamily="34" charset="-79"/>
              </a:defRPr>
            </a:lvl1pPr>
          </a:lstStyle>
          <a:p>
            <a:pPr lvl="0"/>
            <a:r>
              <a:rPr lang="it-IT"/>
              <a:t>TITOLO SEZIONI</a:t>
            </a:r>
          </a:p>
        </p:txBody>
      </p:sp>
      <p:sp>
        <p:nvSpPr>
          <p:cNvPr id="27" name="Segnaposto testo 25">
            <a:extLst>
              <a:ext uri="{FF2B5EF4-FFF2-40B4-BE49-F238E27FC236}">
                <a16:creationId xmlns:a16="http://schemas.microsoft.com/office/drawing/2014/main" id="{1CE67C33-791F-AEC9-5011-EE90276C09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8308" y="2658369"/>
            <a:ext cx="6791284" cy="647408"/>
          </a:xfrm>
        </p:spPr>
        <p:txBody>
          <a:bodyPr anchor="t" anchorCtr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it-IT" sz="1400" b="0" i="0" kern="1200" spc="150" dirty="0" smtClean="0">
                <a:solidFill>
                  <a:srgbClr val="646363"/>
                </a:solidFill>
                <a:latin typeface="Gill Sans" panose="020B0502020104020203" pitchFamily="34" charset="-79"/>
                <a:ea typeface="+mn-ea"/>
                <a:cs typeface="Gill Sans" panose="020B0502020104020203" pitchFamily="34" charset="-79"/>
              </a:defRPr>
            </a:lvl1pPr>
          </a:lstStyle>
          <a:p>
            <a:pPr lvl="0"/>
            <a:r>
              <a:rPr lang="it-IT"/>
              <a:t>TITOLO SEZIONI</a:t>
            </a:r>
          </a:p>
        </p:txBody>
      </p:sp>
      <p:sp>
        <p:nvSpPr>
          <p:cNvPr id="28" name="Segnaposto testo 25">
            <a:extLst>
              <a:ext uri="{FF2B5EF4-FFF2-40B4-BE49-F238E27FC236}">
                <a16:creationId xmlns:a16="http://schemas.microsoft.com/office/drawing/2014/main" id="{9AA3DB9B-0763-265B-CB5E-1DE2E9006C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8306" y="4228309"/>
            <a:ext cx="6791283" cy="647408"/>
          </a:xfrm>
        </p:spPr>
        <p:txBody>
          <a:bodyPr anchor="t" anchorCtr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it-IT" sz="1400" b="0" i="0" kern="1200" spc="150" dirty="0" smtClean="0">
                <a:solidFill>
                  <a:srgbClr val="646363"/>
                </a:solidFill>
                <a:latin typeface="Gill Sans" panose="020B0502020104020203" pitchFamily="34" charset="-79"/>
                <a:ea typeface="+mn-ea"/>
                <a:cs typeface="Gill Sans" panose="020B0502020104020203" pitchFamily="34" charset="-79"/>
              </a:defRPr>
            </a:lvl1pPr>
          </a:lstStyle>
          <a:p>
            <a:pPr lvl="0"/>
            <a:r>
              <a:rPr lang="it-IT"/>
              <a:t>TITOLO SEZIONI</a:t>
            </a:r>
          </a:p>
        </p:txBody>
      </p:sp>
      <p:sp>
        <p:nvSpPr>
          <p:cNvPr id="29" name="Segnaposto testo 25">
            <a:extLst>
              <a:ext uri="{FF2B5EF4-FFF2-40B4-BE49-F238E27FC236}">
                <a16:creationId xmlns:a16="http://schemas.microsoft.com/office/drawing/2014/main" id="{985E8396-B835-1126-DD49-E0339CD569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7188" y="5769571"/>
            <a:ext cx="6773731" cy="647408"/>
          </a:xfrm>
        </p:spPr>
        <p:txBody>
          <a:bodyPr anchor="t" anchorCtr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it-IT" sz="1400" b="0" i="0" kern="1200" spc="150" dirty="0" smtClean="0">
                <a:solidFill>
                  <a:srgbClr val="646363"/>
                </a:solidFill>
                <a:latin typeface="Gill Sans" panose="020B0502020104020203" pitchFamily="34" charset="-79"/>
                <a:ea typeface="+mn-ea"/>
                <a:cs typeface="Gill Sans" panose="020B0502020104020203" pitchFamily="34" charset="-79"/>
              </a:defRPr>
            </a:lvl1pPr>
          </a:lstStyle>
          <a:p>
            <a:pPr lvl="0"/>
            <a:r>
              <a:rPr lang="it-IT"/>
              <a:t>TITOLO SEZIONI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308ADD9-CFFA-1662-B525-9FC373F9D5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37" y="6262062"/>
            <a:ext cx="424792" cy="55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B252B3-73A3-20A7-3B30-045BD4E8DD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7795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515" imgH="516" progId="TCLayout.ActiveDocument.1">
                  <p:embed/>
                </p:oleObj>
              </mc:Choice>
              <mc:Fallback>
                <p:oleObj name="Diapositiva think-cell" r:id="rId3" imgW="515" imgH="5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B252B3-73A3-20A7-3B30-045BD4E8D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olo 1">
            <a:extLst>
              <a:ext uri="{FF2B5EF4-FFF2-40B4-BE49-F238E27FC236}">
                <a16:creationId xmlns:a16="http://schemas.microsoft.com/office/drawing/2014/main" id="{6B52FDA7-8061-9647-97C1-A20A0DED18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353" y="170233"/>
            <a:ext cx="11537548" cy="372171"/>
          </a:xfrm>
        </p:spPr>
        <p:txBody>
          <a:bodyPr vert="horz" lIns="0" anchor="ctr" anchorCtr="0">
            <a:noAutofit/>
          </a:bodyPr>
          <a:lstStyle>
            <a:lvl1pPr algn="l">
              <a:defRPr sz="2400" b="1" i="0" spc="0" baseline="0">
                <a:solidFill>
                  <a:srgbClr val="00A8B0"/>
                </a:solidFill>
                <a:latin typeface="Gill Sans" panose="020B0502020104020203" pitchFamily="34" charset="-79"/>
                <a:cs typeface="Gill Sans" panose="020B0502020104020203" pitchFamily="34" charset="-79"/>
              </a:defRPr>
            </a:lvl1pPr>
          </a:lstStyle>
          <a:p>
            <a:r>
              <a:rPr lang="it-IT"/>
              <a:t>Titolo slide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086EA386-FC69-B94E-8844-D2A8F076A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5353" y="542404"/>
            <a:ext cx="11537548" cy="37217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800" b="0" i="0" spc="0">
                <a:solidFill>
                  <a:schemeClr val="tx1">
                    <a:lumMod val="65000"/>
                    <a:lumOff val="3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Sottotitolo slide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C49F88F-D280-9844-BD1A-A6966382BC20}"/>
              </a:ext>
            </a:extLst>
          </p:cNvPr>
          <p:cNvSpPr/>
          <p:nvPr userDrawn="1"/>
        </p:nvSpPr>
        <p:spPr>
          <a:xfrm rot="16200000" flipH="1">
            <a:off x="9577087" y="4243086"/>
            <a:ext cx="1765138" cy="346468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3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>
              <a:latin typeface="Gill Sans MT" panose="020B0502020104020203" pitchFamily="34" charset="77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8CF6098-C562-314E-9FA9-6E387A2EA789}"/>
              </a:ext>
            </a:extLst>
          </p:cNvPr>
          <p:cNvSpPr txBox="1"/>
          <p:nvPr userDrawn="1"/>
        </p:nvSpPr>
        <p:spPr>
          <a:xfrm>
            <a:off x="11403259" y="6515627"/>
            <a:ext cx="739282" cy="261610"/>
          </a:xfrm>
          <a:prstGeom prst="rect">
            <a:avLst/>
          </a:prstGeom>
          <a:noFill/>
        </p:spPr>
        <p:txBody>
          <a:bodyPr wrap="square" bIns="0" rtlCol="0" anchor="b" anchorCtr="0">
            <a:spAutoFit/>
          </a:bodyPr>
          <a:lstStyle/>
          <a:p>
            <a:pPr algn="r"/>
            <a:fld id="{FAE6D704-2254-C740-A099-004F905C5A91}" type="slidenum">
              <a:rPr lang="it-IT" sz="14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pPr algn="r"/>
              <a:t>‹N›</a:t>
            </a:fld>
            <a:endParaRPr lang="it-IT" sz="1400" b="0" i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4EB7834-4358-37CF-6FEA-9E3D6E8F6F4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889" y="6263988"/>
            <a:ext cx="424792" cy="554513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9C9FAA2-7175-0264-282E-FD0B67FC245D}"/>
              </a:ext>
            </a:extLst>
          </p:cNvPr>
          <p:cNvCxnSpPr>
            <a:cxnSpLocks/>
          </p:cNvCxnSpPr>
          <p:nvPr userDrawn="1"/>
        </p:nvCxnSpPr>
        <p:spPr>
          <a:xfrm>
            <a:off x="0" y="6208158"/>
            <a:ext cx="12192000" cy="0"/>
          </a:xfrm>
          <a:prstGeom prst="line">
            <a:avLst/>
          </a:prstGeom>
          <a:ln>
            <a:solidFill>
              <a:srgbClr val="00A8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02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ltima - Tiffany">
    <p:bg>
      <p:bgPr>
        <a:solidFill>
          <a:srgbClr val="00A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B1C5ED49-16E4-FD3F-AD0F-7E8FEC9AF1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7666" y="3207504"/>
            <a:ext cx="1984745" cy="463144"/>
          </a:xfrm>
        </p:spPr>
        <p:txBody>
          <a:bodyPr anchor="ctr">
            <a:noAutofit/>
          </a:bodyPr>
          <a:lstStyle>
            <a:lvl1pPr algn="l">
              <a:defRPr sz="2400" b="1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GRAZIE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5F9C6D8-9DC7-927C-F572-27AE4B264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6524" y="3141029"/>
            <a:ext cx="554652" cy="72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4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a tito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4ED0051C-8605-7798-07B6-E58B86A3EE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7666" y="3207504"/>
            <a:ext cx="1984745" cy="463144"/>
          </a:xfrm>
        </p:spPr>
        <p:txBody>
          <a:bodyPr anchor="ctr">
            <a:noAutofit/>
          </a:bodyPr>
          <a:lstStyle>
            <a:lvl1pPr algn="l">
              <a:defRPr sz="2400" b="1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GRAZIE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9770231-40F2-E171-2A3A-21574B1100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6524" y="3141029"/>
            <a:ext cx="554652" cy="72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4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FEDE05D-D49A-D2A3-E93A-00661C2A12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67464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10" imgW="515" imgH="516" progId="TCLayout.ActiveDocument.1">
                  <p:embed/>
                </p:oleObj>
              </mc:Choice>
              <mc:Fallback>
                <p:oleObj name="Diapositiva think-cell" r:id="rId10" imgW="515" imgH="51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EDE05D-D49A-D2A3-E93A-00661C2A1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A128D57-0F68-D946-A677-1C3C0828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4E93E6-AED9-4D47-A483-CC528BF0D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AD80CE-2EA0-0440-81D1-8D7F06314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46363"/>
                </a:solidFill>
              </a:defRPr>
            </a:lvl1pPr>
          </a:lstStyle>
          <a:p>
            <a:fld id="{219868E5-2311-AA48-A964-A85831F1A86E}" type="datetimeFigureOut">
              <a:rPr lang="it-IT" smtClean="0"/>
              <a:pPr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58BFE0-A924-0440-9A68-93F44794A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6363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3184A2-0773-4D45-AB69-57B43CF16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DA6B3276-E713-D845-9FDA-D888E59999F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47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3" r:id="rId3"/>
    <p:sldLayoutId id="2147483768" r:id="rId4"/>
    <p:sldLayoutId id="2147483734" r:id="rId5"/>
    <p:sldLayoutId id="2147483774" r:id="rId6"/>
    <p:sldLayoutId id="214748376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36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6463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463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6463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463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463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C2F436-5079-A5D4-A150-0F846800C6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90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421" imgH="423" progId="TCLayout.ActiveDocument.1">
                  <p:embed/>
                </p:oleObj>
              </mc:Choice>
              <mc:Fallback>
                <p:oleObj name="Diapositiva think-cell" r:id="rId3" imgW="421" imgH="4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C2F436-5079-A5D4-A150-0F846800C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F687F1FA-1B2E-9D9F-BF0F-BACC833B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it-IT"/>
              <a:t>ACEA ENERGIA</a:t>
            </a:r>
            <a:br>
              <a:rPr lang="it-IT"/>
            </a:br>
            <a:br>
              <a:rPr lang="it-IT"/>
            </a:br>
            <a:r>
              <a:rPr lang="it-IT"/>
              <a:t>GUIDELINES DIGITAL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2C9E6E-D5C1-4B4F-9F18-A738CEE483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2589" y="4398004"/>
            <a:ext cx="5521591" cy="39576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27/01/25</a:t>
            </a:r>
          </a:p>
        </p:txBody>
      </p:sp>
    </p:spTree>
    <p:extLst>
      <p:ext uri="{BB962C8B-B14F-4D97-AF65-F5344CB8AC3E}">
        <p14:creationId xmlns:p14="http://schemas.microsoft.com/office/powerpoint/2010/main" val="334260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2D4BE-EA30-BAC9-13F1-86331B22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7198150-4DF2-22BC-977B-09A01F3A5D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76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198150-4DF2-22BC-977B-09A01F3A5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0213C964-383D-8BDF-647D-126C1ECE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01. Loghi </a:t>
            </a:r>
            <a:br>
              <a:rPr lang="it-IT"/>
            </a:br>
            <a:r>
              <a:rPr lang="it-IT"/>
              <a:t>Acea Energia</a:t>
            </a:r>
          </a:p>
        </p:txBody>
      </p:sp>
    </p:spTree>
    <p:extLst>
      <p:ext uri="{BB962C8B-B14F-4D97-AF65-F5344CB8AC3E}">
        <p14:creationId xmlns:p14="http://schemas.microsoft.com/office/powerpoint/2010/main" val="28284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2D4BE-EA30-BAC9-13F1-86331B22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7198150-4DF2-22BC-977B-09A01F3A5D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76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198150-4DF2-22BC-977B-09A01F3A5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olo 14">
            <a:extLst>
              <a:ext uri="{FF2B5EF4-FFF2-40B4-BE49-F238E27FC236}">
                <a16:creationId xmlns:a16="http://schemas.microsoft.com/office/drawing/2014/main" id="{D4F31F44-5B87-D725-F9DD-BFCC6399E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Loghi Acea Energia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DAAD1962-695B-037E-960D-57220797C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Le tipologie e le regole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ED66762-4BD9-263F-4095-712390B829FF}"/>
              </a:ext>
            </a:extLst>
          </p:cNvPr>
          <p:cNvSpPr txBox="1"/>
          <p:nvPr/>
        </p:nvSpPr>
        <p:spPr>
          <a:xfrm>
            <a:off x="5795292" y="1833345"/>
            <a:ext cx="5977609" cy="3706882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/>
              </a:rPr>
              <a:t>Usare sempre il logo completo</a:t>
            </a:r>
          </a:p>
          <a:p>
            <a:pPr marL="32385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highlight>
                  <a:srgbClr val="FFFF00"/>
                </a:highlight>
                <a:latin typeface="Gill San"/>
                <a:cs typeface="Gill Sans" panose="020B0502020104020203"/>
              </a:rPr>
              <a:t>Il monogramma è riservato alla holding.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400">
              <a:latin typeface="Gill San"/>
              <a:ea typeface="Gill Sans MT" charset="0"/>
              <a:cs typeface="Gill Sans" panose="020B0502020104020203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cs typeface="Gill Sans" panose="020B0502020104020203"/>
              </a:rPr>
              <a:t>Usare solo 2 colori: turchese e bianco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cs typeface="Gill Sans" panose="020B0502020104020203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cs typeface="Gill Sans" panose="020B0502020104020203"/>
              </a:rPr>
              <a:t>Nella variante turchese la scritta </a:t>
            </a:r>
            <a:r>
              <a:rPr lang="it-IT" sz="2000" b="1" i="1">
                <a:latin typeface="Gill San"/>
                <a:cs typeface="Gill Sans" panose="020B0502020104020203"/>
              </a:rPr>
              <a:t>Acea</a:t>
            </a:r>
            <a:r>
              <a:rPr lang="it-IT" sz="2000" b="1">
                <a:latin typeface="Gill San"/>
                <a:cs typeface="Gill Sans" panose="020B0502020104020203"/>
              </a:rPr>
              <a:t> deve essere sempre bianca, mentre nella variante bianca è trasparente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400">
              <a:solidFill>
                <a:srgbClr val="646363"/>
              </a:solidFill>
              <a:latin typeface="Gill San"/>
              <a:ea typeface="Gill Sans MT" charset="0"/>
              <a:cs typeface="Gill Sans" panose="020B0502020104020203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09B5878-E233-FD62-0313-1F348AE77E4F}"/>
              </a:ext>
            </a:extLst>
          </p:cNvPr>
          <p:cNvSpPr txBox="1"/>
          <p:nvPr/>
        </p:nvSpPr>
        <p:spPr>
          <a:xfrm>
            <a:off x="235354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TIPOLOGIE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26BC0FF-0E4F-D72B-68CD-E45A3A2E49C1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8" name="Immagine 7" descr="Immagine che contiene testo, design, schermata, log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B887EA8-18F9-92D3-BA44-538917545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989" y="1210553"/>
            <a:ext cx="2904787" cy="475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0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D1CC-02A8-84D6-95C1-BEF45762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7117709-1E39-178B-9C65-39903E5A59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117709-1E39-178B-9C65-39903E5A5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olo 14">
            <a:extLst>
              <a:ext uri="{FF2B5EF4-FFF2-40B4-BE49-F238E27FC236}">
                <a16:creationId xmlns:a16="http://schemas.microsoft.com/office/drawing/2014/main" id="{207F20AC-3E9A-3C51-5E40-2E594905D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Loghi Acea Energia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ACF329E6-0343-22B3-CF4F-EA13D5390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Esempi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1295708-68F0-9D4A-854F-0DD26310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72" y="1180181"/>
            <a:ext cx="10859666" cy="3831048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94D3B22-538D-C352-E4AC-0ABC986EA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40" y="5177464"/>
            <a:ext cx="10886098" cy="75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8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89F7F-943E-9B5E-435F-3F1EE263A1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Loghi Acea Energia</a:t>
            </a:r>
            <a:endParaRPr lang="hsb-DE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2051C65-A2FE-065A-8356-3780EAD13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MyAcea Energia e MyAcea Acqua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CF6BB23A-0E15-9225-E220-5A24A8953971}"/>
              </a:ext>
            </a:extLst>
          </p:cNvPr>
          <p:cNvSpPr txBox="1"/>
          <p:nvPr/>
        </p:nvSpPr>
        <p:spPr>
          <a:xfrm>
            <a:off x="6939892" y="1128432"/>
            <a:ext cx="368559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APPLICAZIONE ACEA ENERGIA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3B33A0C7-F8E7-748D-94F7-8704DD2AC604}"/>
              </a:ext>
            </a:extLst>
          </p:cNvPr>
          <p:cNvSpPr txBox="1"/>
          <p:nvPr/>
        </p:nvSpPr>
        <p:spPr>
          <a:xfrm>
            <a:off x="235353" y="1603248"/>
            <a:ext cx="5523763" cy="3541925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MyAcea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Energia utilizza il logo turchese su sfondo bianco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 err="1">
                <a:latin typeface="Gill San"/>
                <a:cs typeface="Gill Sans" panose="020B0502020104020203" pitchFamily="34" charset="-79"/>
              </a:rPr>
              <a:t>MyAcea</a:t>
            </a:r>
            <a:r>
              <a:rPr lang="it-IT" sz="2000" b="1">
                <a:latin typeface="Gill San"/>
                <a:cs typeface="Gill Sans" panose="020B0502020104020203" pitchFamily="34" charset="-79"/>
              </a:rPr>
              <a:t> Aqua utilizza il logo bianco su sfondo turchese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cs typeface="Gill Sans" panose="020B0502020104020203" pitchFamily="34" charset="-79"/>
              </a:rPr>
              <a:t>In presenza del logo con </a:t>
            </a:r>
            <a:r>
              <a:rPr lang="it-IT" sz="2000" b="1" err="1">
                <a:latin typeface="Gill San"/>
                <a:cs typeface="Gill Sans" panose="020B0502020104020203" pitchFamily="34" charset="-79"/>
              </a:rPr>
              <a:t>logotype</a:t>
            </a:r>
            <a:r>
              <a:rPr lang="it-IT" sz="2000" b="1">
                <a:latin typeface="Gill San"/>
                <a:cs typeface="Gill Sans" panose="020B0502020104020203" pitchFamily="34" charset="-79"/>
              </a:rPr>
              <a:t> è possibile utilizzare gli sfondi per entrambi 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cs typeface="Gill Sans" panose="020B0502020104020203" pitchFamily="34" charset="-79"/>
              </a:rPr>
              <a:t>Nel caso di solo logo questo deve essere all’interno del riquadro come indicato di lato</a:t>
            </a:r>
          </a:p>
          <a:p>
            <a:pPr>
              <a:lnSpc>
                <a:spcPct val="90000"/>
              </a:lnSpc>
              <a:buClr>
                <a:srgbClr val="00A8B0"/>
              </a:buClr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5D6B5-866D-1C48-0BD2-5F8D0B141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504" y="1570197"/>
            <a:ext cx="3692366" cy="4390687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C7960910-28EE-A8B5-2796-BA6D6822256A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3407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CA19-1DB3-8B8E-F3A3-B44A33ED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2E2EB9E-0713-044D-3D5E-41D91EACE0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E2EB9E-0713-044D-3D5E-41D91EACE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18A3AAC3-5B96-CEBB-53A3-FAA939B9A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02. Palette colori</a:t>
            </a:r>
          </a:p>
        </p:txBody>
      </p:sp>
    </p:spTree>
    <p:extLst>
      <p:ext uri="{BB962C8B-B14F-4D97-AF65-F5344CB8AC3E}">
        <p14:creationId xmlns:p14="http://schemas.microsoft.com/office/powerpoint/2010/main" val="346749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9158-BE3B-A5DC-DA25-DFC87A9A0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902D43-F381-5AFE-58AA-4268E3050A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AE16B0D-31F6-AF44-68DD-A2ABECE7C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Colori d‘accento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A1E29BF-39D1-EFED-9516-3415DA9D8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69" y="1719889"/>
            <a:ext cx="4777623" cy="253626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DA86A38-E3C5-4CE0-FA50-B1CA670B0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69" y="4888631"/>
            <a:ext cx="4777623" cy="1209525"/>
          </a:xfrm>
          <a:prstGeom prst="rect">
            <a:avLst/>
          </a:prstGeom>
        </p:spPr>
      </p:pic>
      <p:sp>
        <p:nvSpPr>
          <p:cNvPr id="20" name="TextBox 2">
            <a:extLst>
              <a:ext uri="{FF2B5EF4-FFF2-40B4-BE49-F238E27FC236}">
                <a16:creationId xmlns:a16="http://schemas.microsoft.com/office/drawing/2014/main" id="{F511028D-674B-72CA-2E44-3A77DF9CD7AE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UTILIZZARE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E71B4850-047C-B94A-9D74-F913CB4DAD8A}"/>
              </a:ext>
            </a:extLst>
          </p:cNvPr>
          <p:cNvSpPr txBox="1"/>
          <p:nvPr/>
        </p:nvSpPr>
        <p:spPr>
          <a:xfrm>
            <a:off x="6228427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289826C4-DC65-DC0D-3611-1D11C617287C}"/>
              </a:ext>
            </a:extLst>
          </p:cNvPr>
          <p:cNvSpPr txBox="1"/>
          <p:nvPr/>
        </p:nvSpPr>
        <p:spPr>
          <a:xfrm>
            <a:off x="235353" y="4471691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NON UTILIZZARE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AFE3C047-AFC7-0619-3B14-26CDE8479F99}"/>
              </a:ext>
            </a:extLst>
          </p:cNvPr>
          <p:cNvSpPr txBox="1"/>
          <p:nvPr/>
        </p:nvSpPr>
        <p:spPr>
          <a:xfrm>
            <a:off x="6228427" y="1603248"/>
            <a:ext cx="5441912" cy="3491891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Non utilizzare gradienti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I colori piatti della palette sostituiscono i gradienti precedenti.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gli stessi colori per </a:t>
            </a:r>
            <a:b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</a:b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entrambe le commodity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Il turchese è il colore d’accento sia per Luce sia per Gas. Utilizzare le icone per una migliore distinzione.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Non usare altre tonalità di blu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La palette da utilizzare è basata sul turchese. Le tonalità di blu della palette Acea sono riservate ad Acea Acqua.</a:t>
            </a:r>
          </a:p>
        </p:txBody>
      </p:sp>
    </p:spTree>
    <p:extLst>
      <p:ext uri="{BB962C8B-B14F-4D97-AF65-F5344CB8AC3E}">
        <p14:creationId xmlns:p14="http://schemas.microsoft.com/office/powerpoint/2010/main" val="307948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325B-5D1E-7197-8FCD-AF6A7865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1FAE5F-B1F0-F500-D90F-2410E8425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6D9E7E1-C4C0-3C2E-E42C-406D3058E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Accessibilità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5691F28D-6B55-18F9-DC8D-6BD43725D334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ACCESSIBILITÀ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C3D750B7-FD4B-5006-29AE-D4C340D30503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38128E96-C80A-8C78-4736-544C6057583A}"/>
              </a:ext>
            </a:extLst>
          </p:cNvPr>
          <p:cNvSpPr txBox="1"/>
          <p:nvPr/>
        </p:nvSpPr>
        <p:spPr>
          <a:xfrm>
            <a:off x="5795293" y="1603248"/>
            <a:ext cx="5977608" cy="3385847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Testo bianco su sfondo petrolio o </a:t>
            </a: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teal</a:t>
            </a: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Bottoni primari, banner, intestazioni, elementi attivi.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 u="sng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Testo nero su sfondo turchese (o tonalità più chiare)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Elementi di attenzione, effetti </a:t>
            </a:r>
            <a:r>
              <a:rPr lang="it-IT" sz="1700" err="1">
                <a:latin typeface="Gill San"/>
                <a:cs typeface="Gill Sans" panose="020B0502020104020203" pitchFamily="34" charset="-79"/>
              </a:rPr>
              <a:t>hover</a:t>
            </a:r>
            <a:r>
              <a:rPr lang="it-IT" sz="1700">
                <a:latin typeface="Gill San"/>
                <a:cs typeface="Gill Sans" panose="020B0502020104020203" pitchFamily="34" charset="-79"/>
              </a:rPr>
              <a:t>.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Testo </a:t>
            </a: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teal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o nero su sfondo bianco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sempre lo stile </a:t>
            </a: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underline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per i testi con link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C1314CB-15AA-EBBA-AE62-2FAAB4F78335}"/>
              </a:ext>
            </a:extLst>
          </p:cNvPr>
          <p:cNvSpPr/>
          <p:nvPr/>
        </p:nvSpPr>
        <p:spPr>
          <a:xfrm>
            <a:off x="758169" y="3281483"/>
            <a:ext cx="3027108" cy="1153613"/>
          </a:xfrm>
          <a:prstGeom prst="roundRect">
            <a:avLst/>
          </a:prstGeom>
          <a:solidFill>
            <a:srgbClr val="00A8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>
                <a:solidFill>
                  <a:srgbClr val="1D1D1D"/>
                </a:solidFill>
                <a:cs typeface="Gill Sans" panose="020B0502020104020203"/>
              </a:rPr>
              <a:t>LIV. ACCESSIBILITÀ: AA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C206604-E2B0-E949-E43E-F66105E4C64A}"/>
              </a:ext>
            </a:extLst>
          </p:cNvPr>
          <p:cNvSpPr/>
          <p:nvPr/>
        </p:nvSpPr>
        <p:spPr>
          <a:xfrm>
            <a:off x="758169" y="1812988"/>
            <a:ext cx="3027108" cy="1153613"/>
          </a:xfrm>
          <a:prstGeom prst="roundRect">
            <a:avLst/>
          </a:prstGeom>
          <a:solidFill>
            <a:srgbClr val="0051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>
                <a:solidFill>
                  <a:schemeClr val="bg1"/>
                </a:solidFill>
                <a:cs typeface="Gill Sans" panose="020B0502020104020203"/>
              </a:rPr>
              <a:t>LIV. ACCESSIBILITÀ: AAA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51523AC-4DD1-49AD-ED4B-702F2730F0C6}"/>
              </a:ext>
            </a:extLst>
          </p:cNvPr>
          <p:cNvSpPr/>
          <p:nvPr/>
        </p:nvSpPr>
        <p:spPr>
          <a:xfrm>
            <a:off x="758169" y="4751714"/>
            <a:ext cx="3027108" cy="1153613"/>
          </a:xfrm>
          <a:prstGeom prst="roundRect">
            <a:avLst/>
          </a:prstGeom>
          <a:solidFill>
            <a:schemeClr val="bg1"/>
          </a:solidFill>
          <a:ln>
            <a:solidFill>
              <a:srgbClr val="007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>
                <a:solidFill>
                  <a:srgbClr val="007B8B"/>
                </a:solidFill>
                <a:cs typeface="Gill Sans" panose="020B0502020104020203"/>
              </a:rPr>
              <a:t>LIV. ACCESSIBILITÀ: AA</a:t>
            </a:r>
          </a:p>
        </p:txBody>
      </p:sp>
    </p:spTree>
    <p:extLst>
      <p:ext uri="{BB962C8B-B14F-4D97-AF65-F5344CB8AC3E}">
        <p14:creationId xmlns:p14="http://schemas.microsoft.com/office/powerpoint/2010/main" val="86078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446300FF-6F6B-31AB-99CD-9353A6122B5C}"/>
              </a:ext>
            </a:extLst>
          </p:cNvPr>
          <p:cNvSpPr/>
          <p:nvPr/>
        </p:nvSpPr>
        <p:spPr>
          <a:xfrm>
            <a:off x="0" y="960427"/>
            <a:ext cx="12192000" cy="50437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sb-DE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0DCE3D-DF35-B6D0-4CC9-BDCB92D17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DCF465-DE01-B91B-3366-73526B6CFF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Esempi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DA5F4D7-32F7-41B4-C4B6-CC591C09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382" y="1242549"/>
            <a:ext cx="1786755" cy="260478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214CF50-B49A-9167-5AFE-081375AF3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89" y="4440011"/>
            <a:ext cx="2144537" cy="4289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7C1F8CA-5A27-202E-3CD3-0D913B4BD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89" y="5286941"/>
            <a:ext cx="10885950" cy="60900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5DAEDB5-D8E9-704C-4866-EF3BF694C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180" y="4349963"/>
            <a:ext cx="6543802" cy="60900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73CA70B-EDC1-C5B5-6B47-426640101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1437" y="4502064"/>
            <a:ext cx="1282700" cy="304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FFD8F42-6C69-A757-4719-E8BCFF2C14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88" y="1128788"/>
            <a:ext cx="8551330" cy="28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1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93270-F26E-E936-1DC4-1C0CC9762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16DBDED-17D9-9C4A-6C02-3D4315840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Colori neutrali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BADEEDE4-A4AF-9B66-3D0F-7A6400AE5005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UTILIZZARE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BF65D923-0F1E-8C82-0179-AA742C417267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3FCDB53E-6119-7056-77D4-B1BCF83E94A4}"/>
              </a:ext>
            </a:extLst>
          </p:cNvPr>
          <p:cNvSpPr txBox="1"/>
          <p:nvPr/>
        </p:nvSpPr>
        <p:spPr>
          <a:xfrm>
            <a:off x="5795292" y="1591818"/>
            <a:ext cx="6107949" cy="3665981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il bianco per gli sfondi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Il bianco secondario </a:t>
            </a:r>
            <a:r>
              <a:rPr lang="it-IT" sz="1700" err="1">
                <a:latin typeface="Gill San"/>
                <a:cs typeface="Gill Sans" panose="020B0502020104020203" pitchFamily="34" charset="-79"/>
              </a:rPr>
              <a:t>whitesmoke</a:t>
            </a:r>
            <a:r>
              <a:rPr lang="it-IT" sz="1700">
                <a:latin typeface="Gill San"/>
                <a:cs typeface="Gill Sans" panose="020B0502020104020203" pitchFamily="34" charset="-79"/>
              </a:rPr>
              <a:t> come sfondo viene usato solo su card che poggiano su sfondo bianco.</a:t>
            </a: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 u="sng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le tonalità </a:t>
            </a:r>
            <a:r>
              <a:rPr lang="it-IT" sz="2000" b="1" i="1">
                <a:latin typeface="Gill San"/>
                <a:ea typeface="Gill Sans MT" charset="0"/>
                <a:cs typeface="Gill Sans" panose="020B0502020104020203" pitchFamily="34" charset="-79"/>
              </a:rPr>
              <a:t>Dark lava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, </a:t>
            </a:r>
            <a:r>
              <a:rPr lang="it-IT" sz="2000" b="1" i="1" err="1">
                <a:latin typeface="Gill San"/>
                <a:ea typeface="Gill Sans MT" charset="0"/>
                <a:cs typeface="Gill Sans" panose="020B0502020104020203" pitchFamily="34" charset="-79"/>
              </a:rPr>
              <a:t>Davy’s</a:t>
            </a:r>
            <a:r>
              <a:rPr lang="it-IT" sz="2000" b="1" i="1">
                <a:latin typeface="Gill San"/>
                <a:ea typeface="Gill Sans MT" charset="0"/>
                <a:cs typeface="Gill Sans" panose="020B0502020104020203" pitchFamily="34" charset="-79"/>
              </a:rPr>
              <a:t> </a:t>
            </a:r>
            <a:r>
              <a:rPr lang="it-IT" sz="2000" b="1" i="1" err="1">
                <a:latin typeface="Gill San"/>
                <a:ea typeface="Gill Sans MT" charset="0"/>
                <a:cs typeface="Gill Sans" panose="020B0502020104020203" pitchFamily="34" charset="-79"/>
              </a:rPr>
              <a:t>grey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e </a:t>
            </a:r>
            <a:r>
              <a:rPr lang="it-IT" sz="2000" b="1" i="1">
                <a:latin typeface="Gill San"/>
                <a:ea typeface="Gill Sans MT" charset="0"/>
                <a:cs typeface="Gill Sans" panose="020B0502020104020203" pitchFamily="34" charset="-79"/>
              </a:rPr>
              <a:t>Nickel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per i testi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Queste tre tonalità garantiscono il livello minimo di accessibilità per i testi. </a:t>
            </a:r>
            <a:endParaRPr lang="it-IT" sz="17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79A63D2-A12A-8BCF-6443-8022E5F4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69" y="1719888"/>
            <a:ext cx="4777623" cy="38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6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BF8C-54C4-8ACB-3424-69216336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92833-78F4-FAD3-CEF1-8842C58B3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2E0C006-7E4E-984F-5285-4A5525DCF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Colori sostenibilità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AED3BA8-3CBE-E134-BEA4-2921AF8B81A2}"/>
              </a:ext>
            </a:extLst>
          </p:cNvPr>
          <p:cNvSpPr txBox="1"/>
          <p:nvPr/>
        </p:nvSpPr>
        <p:spPr>
          <a:xfrm>
            <a:off x="235353" y="1128432"/>
            <a:ext cx="3022197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PALETTE SOSTENIBILITÀ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A33F3358-71CD-E2D3-4B20-99C5042AF332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6DD1C6A-2200-DA19-E2D3-6D9D5AC60F49}"/>
              </a:ext>
            </a:extLst>
          </p:cNvPr>
          <p:cNvSpPr txBox="1"/>
          <p:nvPr/>
        </p:nvSpPr>
        <p:spPr>
          <a:xfrm>
            <a:off x="5795292" y="1603248"/>
            <a:ext cx="6396707" cy="1653299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Il tema sostenibilità può utilizzare la palette dedicata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Il verde viene usato su elementi d’accento (icone, badge, …).</a:t>
            </a:r>
          </a:p>
          <a:p>
            <a:pPr>
              <a:lnSpc>
                <a:spcPct val="90000"/>
              </a:lnSpc>
              <a:buClr>
                <a:srgbClr val="00A8B0"/>
              </a:buClr>
            </a:pPr>
            <a:endParaRPr lang="it-IT" sz="2000" b="1"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95C6889B-E9B2-2C65-A4D1-EBB954EF7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69" y="1719890"/>
            <a:ext cx="4777623" cy="117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72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A435-AEB5-389E-3FD1-312F61CF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5E931-6C3F-7B10-3C44-92E72210A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Palette colori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26DC38-7CA1-276E-2DBA-D3693BF90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Colori di sistema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C4F7AAF1-A528-18BE-50C3-1EB232712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3" y="1715699"/>
            <a:ext cx="1348165" cy="232680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02CB1B49-3814-44F3-5DE7-2ECC4391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944" y="1715699"/>
            <a:ext cx="1348165" cy="2326806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7036FB5D-BE58-EAC9-AD0E-F638CC9A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55" y="1706697"/>
            <a:ext cx="1353399" cy="233580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A09C3A31-D5C8-D0A1-50A7-1531F7D1C837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PALETTE DI SISTEMA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8B5C6BD-6CD6-D654-5DCB-D7A8C8CD00F9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2423D0D-9814-4F1C-0268-30DB5064D7A4}"/>
              </a:ext>
            </a:extLst>
          </p:cNvPr>
          <p:cNvSpPr txBox="1"/>
          <p:nvPr/>
        </p:nvSpPr>
        <p:spPr>
          <a:xfrm>
            <a:off x="235353" y="4284141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ESEMPI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F0945EC-3DBE-BEC7-C8F3-AB1E331D0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37" y="5324176"/>
            <a:ext cx="5715000" cy="609600"/>
          </a:xfrm>
          <a:prstGeom prst="rect">
            <a:avLst/>
          </a:prstGeom>
        </p:spPr>
      </p:pic>
      <p:pic>
        <p:nvPicPr>
          <p:cNvPr id="13" name="Immagine 12" descr="Immagine che contiene Carattere, calligrafia, Elementi grafici, cerchi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B47E6D02-203D-8627-B519-9C2D8A1489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37" y="4723712"/>
            <a:ext cx="5252060" cy="506627"/>
          </a:xfrm>
          <a:prstGeom prst="rect">
            <a:avLst/>
          </a:prstGeom>
        </p:spPr>
      </p:pic>
      <p:sp>
        <p:nvSpPr>
          <p:cNvPr id="18" name="TextBox 2">
            <a:extLst>
              <a:ext uri="{FF2B5EF4-FFF2-40B4-BE49-F238E27FC236}">
                <a16:creationId xmlns:a16="http://schemas.microsoft.com/office/drawing/2014/main" id="{1728DC3E-47BD-003B-C57D-B2716E6F6892}"/>
              </a:ext>
            </a:extLst>
          </p:cNvPr>
          <p:cNvSpPr txBox="1"/>
          <p:nvPr/>
        </p:nvSpPr>
        <p:spPr>
          <a:xfrm>
            <a:off x="6228427" y="1603248"/>
            <a:ext cx="5441912" cy="3491891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,Sans-Serif" panose="020B0604020202020204" pitchFamily="34" charset="0"/>
              <a:buChar char="•"/>
            </a:pPr>
            <a:r>
              <a:rPr lang="it-IT" sz="2000" b="1">
                <a:latin typeface="Arial"/>
                <a:ea typeface="Gill Sans MT" charset="0"/>
                <a:cs typeface="Arial"/>
              </a:rPr>
              <a:t>I colori di sistema vengono usati solo per messaggi di sistema</a:t>
            </a:r>
            <a:br>
              <a:rPr lang="it-IT" sz="2000" b="1">
                <a:latin typeface="Arial"/>
                <a:ea typeface="Gill Sans MT" charset="0"/>
                <a:cs typeface="Arial"/>
              </a:rPr>
            </a:br>
            <a:r>
              <a:rPr lang="it-IT" sz="1700">
                <a:latin typeface="Gill Sans MT"/>
                <a:ea typeface="Gill Sans MT" charset="0"/>
                <a:cs typeface="Arial"/>
              </a:rPr>
              <a:t>Verde</a:t>
            </a:r>
            <a:r>
              <a:rPr lang="it-IT" sz="1700">
                <a:ea typeface="+mn-lt"/>
                <a:cs typeface="+mn-lt"/>
              </a:rPr>
              <a:t> per messaggi positivi, giallo per warning e rosso per errori.</a:t>
            </a:r>
            <a:endParaRPr lang="en-US" sz="2000">
              <a:latin typeface="Arial"/>
              <a:ea typeface="+mn-lt"/>
              <a:cs typeface="Arial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,Sans-Serif" panose="020B0604020202020204" pitchFamily="34" charset="0"/>
              <a:buChar char="•"/>
            </a:pPr>
            <a:r>
              <a:rPr lang="it-IT" sz="2000" b="1">
                <a:latin typeface="Arial"/>
                <a:ea typeface="Gill Sans MT" charset="0"/>
                <a:cs typeface="Arial"/>
              </a:rPr>
              <a:t>Sulle tonalità </a:t>
            </a:r>
            <a:r>
              <a:rPr lang="it-IT" sz="2000" b="1" i="1" err="1">
                <a:latin typeface="Arial"/>
                <a:ea typeface="Gill Sans MT" charset="0"/>
                <a:cs typeface="Arial"/>
              </a:rPr>
              <a:t>pastel</a:t>
            </a:r>
            <a:r>
              <a:rPr lang="it-IT" sz="2000" b="1">
                <a:latin typeface="Arial"/>
                <a:ea typeface="Gill Sans MT" charset="0"/>
                <a:cs typeface="Arial"/>
              </a:rPr>
              <a:t> di verde e giallo usare il colore </a:t>
            </a:r>
            <a:r>
              <a:rPr lang="it-IT" sz="2000" b="1" i="1">
                <a:latin typeface="Arial"/>
                <a:ea typeface="Gill Sans MT" charset="0"/>
                <a:cs typeface="Arial"/>
              </a:rPr>
              <a:t>Dark lava</a:t>
            </a:r>
            <a:endParaRPr lang="en-US" sz="2000">
              <a:latin typeface="Arial"/>
              <a:ea typeface="Gill Sans MT" charset="0"/>
              <a:cs typeface="Arial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Arial"/>
                <a:ea typeface="Gill Sans MT" charset="0"/>
                <a:cs typeface="Arial"/>
              </a:rPr>
              <a:t>Sulla tonalità </a:t>
            </a:r>
            <a:r>
              <a:rPr lang="it-IT" sz="2000" b="1" i="1" err="1">
                <a:latin typeface="Arial"/>
                <a:ea typeface="Gill Sans MT" charset="0"/>
                <a:cs typeface="Arial"/>
              </a:rPr>
              <a:t>pastel</a:t>
            </a:r>
            <a:r>
              <a:rPr lang="it-IT" sz="2000" b="1">
                <a:latin typeface="Arial"/>
                <a:ea typeface="Gill Sans MT" charset="0"/>
                <a:cs typeface="Arial"/>
              </a:rPr>
              <a:t> di rosso usare la tonalità </a:t>
            </a:r>
            <a:r>
              <a:rPr lang="it-IT" sz="2000" b="1" i="1" err="1">
                <a:latin typeface="Arial"/>
                <a:ea typeface="Gill Sans MT" charset="0"/>
                <a:cs typeface="Arial"/>
              </a:rPr>
              <a:t>Error</a:t>
            </a:r>
            <a:r>
              <a:rPr lang="it-IT" sz="2000" b="1" i="1">
                <a:latin typeface="Arial"/>
                <a:ea typeface="Gill Sans MT" charset="0"/>
                <a:cs typeface="Arial"/>
              </a:rPr>
              <a:t> </a:t>
            </a:r>
            <a:r>
              <a:rPr lang="it-IT" sz="2000" b="1" i="1" err="1">
                <a:latin typeface="Arial"/>
                <a:ea typeface="Gill Sans MT" charset="0"/>
                <a:cs typeface="Arial"/>
              </a:rPr>
              <a:t>accent</a:t>
            </a:r>
          </a:p>
        </p:txBody>
      </p:sp>
    </p:spTree>
    <p:extLst>
      <p:ext uri="{BB962C8B-B14F-4D97-AF65-F5344CB8AC3E}">
        <p14:creationId xmlns:p14="http://schemas.microsoft.com/office/powerpoint/2010/main" val="2632403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D1C3-5C1A-F91A-DB0F-1C8D091A4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CD76C02-F8F0-F10A-08D6-06511CCA47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D76C02-F8F0-F10A-08D6-06511CCA4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48AD7708-64B2-F3E0-57FC-6A407F74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03. </a:t>
            </a:r>
            <a:r>
              <a:rPr lang="it-IT" err="1"/>
              <a:t>Icon</a:t>
            </a:r>
            <a:r>
              <a:rPr lang="it-IT"/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243631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DE0CFFE-4EEC-2902-E43B-DD237C95188A}"/>
              </a:ext>
            </a:extLst>
          </p:cNvPr>
          <p:cNvSpPr/>
          <p:nvPr/>
        </p:nvSpPr>
        <p:spPr>
          <a:xfrm>
            <a:off x="0" y="960427"/>
            <a:ext cx="4663990" cy="49717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sb-DE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29F1C8B-18B6-E968-5A43-E7D16C00CD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Icon set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F755A5A-55CB-E3C0-7ED7-083D0AF22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Regole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E57A7A7-C925-421E-3668-272D3F40D9C0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ICONE ESEMPI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9C821D7-D737-5BC2-BA16-4E463AD5ED7E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02D91623-D59C-D035-9E86-AE3B9B9B9E90}"/>
              </a:ext>
            </a:extLst>
          </p:cNvPr>
          <p:cNvSpPr txBox="1"/>
          <p:nvPr/>
        </p:nvSpPr>
        <p:spPr>
          <a:xfrm>
            <a:off x="5795293" y="1603248"/>
            <a:ext cx="5977608" cy="3927219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Utilizzare solo icone del set validato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Utilizzare sempre icone </a:t>
            </a: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outlined</a:t>
            </a: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Mantenere lo spessore proporzionale alla dimensione dell’icona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Riferimento: spessore di 1.2 px per icone da 24x24 px.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Le icone sul tema sostenibilità vengono mantenute</a:t>
            </a: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>
              <a:lnSpc>
                <a:spcPct val="90000"/>
              </a:lnSpc>
              <a:buClr>
                <a:srgbClr val="00A8B0"/>
              </a:buClr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9E30B1-59B9-CBE5-0CE2-5A0CB222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02" y="4590096"/>
            <a:ext cx="569097" cy="57493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507970A5-CAEC-0750-A3E1-8D15905A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707" y="4594146"/>
            <a:ext cx="562232" cy="56223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C02B683-69F5-7A10-8015-FC1C955CC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40" y="1616050"/>
            <a:ext cx="2637139" cy="117206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FAF231C-DDED-3B89-0E89-CD848A2FA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40" y="3073862"/>
            <a:ext cx="2637139" cy="117206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615551D-C524-E49B-597D-EBD60C95E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40" y="4529044"/>
            <a:ext cx="2637139" cy="117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45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3E22-3B10-0954-E82C-EE0CC7F1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96E4A5E-1A33-08CC-8332-0634AF0728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515" imgH="516" progId="TCLayout.ActiveDocument.1">
                  <p:embed/>
                </p:oleObj>
              </mc:Choice>
              <mc:Fallback>
                <p:oleObj name="Diapositiva think-cell" r:id="rId4" imgW="515" imgH="5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6E4A5E-1A33-08CC-8332-0634AF0728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B8CC97BF-8BB2-712D-573E-9DDBE991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04. </a:t>
            </a:r>
            <a:r>
              <a:rPr lang="it-IT" err="1"/>
              <a:t>Typography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5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70CA-F2B4-64F9-4696-0926D316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5E7C66-4332-708A-8E64-DD15845341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sb-DE"/>
              <a:t>Typography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7CED64-A82A-0257-C5E1-67412A534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sb-DE"/>
              <a:t>Font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6CA00D1-93AA-5A4F-BD95-E288F5376749}"/>
              </a:ext>
            </a:extLst>
          </p:cNvPr>
          <p:cNvSpPr txBox="1"/>
          <p:nvPr/>
        </p:nvSpPr>
        <p:spPr>
          <a:xfrm>
            <a:off x="235353" y="1128432"/>
            <a:ext cx="2805301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FONT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C7784D73-1C19-B5BC-CAE0-434B6722DCBF}"/>
              </a:ext>
            </a:extLst>
          </p:cNvPr>
          <p:cNvSpPr txBox="1"/>
          <p:nvPr/>
        </p:nvSpPr>
        <p:spPr>
          <a:xfrm>
            <a:off x="5795293" y="1128432"/>
            <a:ext cx="1736666" cy="441765"/>
          </a:xfrm>
          <a:prstGeom prst="rect">
            <a:avLst/>
          </a:prstGeom>
          <a:noFill/>
        </p:spPr>
        <p:txBody>
          <a:bodyPr wrap="square" lIns="0" tIns="89939" rIns="91377" bIns="89939" rtlCol="0" anchor="t">
            <a:no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it-IT" sz="1600" b="1" kern="0">
                <a:solidFill>
                  <a:srgbClr val="00A8B0"/>
                </a:solidFill>
                <a:latin typeface="Gill Sans" panose="020B0502020104020203" pitchFamily="34" charset="-79"/>
                <a:ea typeface="ＭＳ Ｐゴシック" pitchFamily="1" charset="-128"/>
                <a:cs typeface="Gill Sans" panose="020B0502020104020203" pitchFamily="34" charset="-79"/>
              </a:rPr>
              <a:t>REGOLE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latin typeface="Gill Sans" panose="020B0502020104020203" pitchFamily="34" charset="-79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BE13F97F-593A-8F71-68C7-7A5119D14F37}"/>
              </a:ext>
            </a:extLst>
          </p:cNvPr>
          <p:cNvSpPr txBox="1"/>
          <p:nvPr/>
        </p:nvSpPr>
        <p:spPr>
          <a:xfrm>
            <a:off x="5795293" y="1603248"/>
            <a:ext cx="5977608" cy="3464511"/>
          </a:xfrm>
          <a:prstGeom prst="rect">
            <a:avLst/>
          </a:prstGeom>
          <a:noFill/>
        </p:spPr>
        <p:txBody>
          <a:bodyPr wrap="square" lIns="91377" tIns="89939" rIns="91377" bIns="89939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Il font digitale rimane invariato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Dimensioni, pesi e altre proprietà di testo sono invariate.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gli stessi colori per </a:t>
            </a:r>
            <a:b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</a:b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entrambe le commodity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r>
              <a:rPr lang="it-IT" sz="1700">
                <a:latin typeface="Gill San"/>
                <a:cs typeface="Gill Sans" panose="020B0502020104020203" pitchFamily="34" charset="-79"/>
              </a:rPr>
              <a:t>Il turchese è il colore d’accento sia per Luce sia per Gas.</a:t>
            </a:r>
          </a:p>
          <a:p>
            <a:pPr marL="324000" lvl="1">
              <a:lnSpc>
                <a:spcPct val="90000"/>
              </a:lnSpc>
              <a:buClr>
                <a:srgbClr val="00A8B0"/>
              </a:buClr>
            </a:pPr>
            <a:endParaRPr lang="it-IT" sz="2000">
              <a:latin typeface="Gill San"/>
              <a:cs typeface="Gill Sans" panose="020B0502020104020203" pitchFamily="34" charset="-79"/>
            </a:endParaRPr>
          </a:p>
          <a:p>
            <a:pPr marL="285750" indent="-285750">
              <a:lnSpc>
                <a:spcPct val="90000"/>
              </a:lnSpc>
              <a:buClr>
                <a:srgbClr val="00A8B0"/>
              </a:buClr>
              <a:buFont typeface="Arial" panose="020B0604020202020204" pitchFamily="34" charset="0"/>
              <a:buChar char="•"/>
            </a:pP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Usare nero o </a:t>
            </a:r>
            <a:r>
              <a:rPr lang="it-IT" sz="2000" b="1" err="1">
                <a:latin typeface="Gill San"/>
                <a:ea typeface="Gill Sans MT" charset="0"/>
                <a:cs typeface="Gill Sans" panose="020B0502020104020203" pitchFamily="34" charset="-79"/>
              </a:rPr>
              <a:t>teal</a:t>
            </a:r>
            <a:r>
              <a:rPr lang="it-IT" sz="2000" b="1">
                <a:latin typeface="Gill San"/>
                <a:ea typeface="Gill Sans MT" charset="0"/>
                <a:cs typeface="Gill Sans" panose="020B0502020104020203" pitchFamily="34" charset="-79"/>
              </a:rPr>
              <a:t> per i titoli, nero o grigio scuro per il corpo</a:t>
            </a:r>
          </a:p>
          <a:p>
            <a:pPr>
              <a:lnSpc>
                <a:spcPct val="90000"/>
              </a:lnSpc>
              <a:buClr>
                <a:srgbClr val="00A8B0"/>
              </a:buClr>
            </a:pPr>
            <a:endParaRPr lang="it-IT" sz="2000" b="1">
              <a:latin typeface="Gill San"/>
              <a:ea typeface="Gill Sans MT" charset="0"/>
              <a:cs typeface="Gill Sans" panose="020B0502020104020203" pitchFamily="34" charset="-79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B7E46D6D-325C-85EF-43ED-277DAFBCAE13}"/>
              </a:ext>
            </a:extLst>
          </p:cNvPr>
          <p:cNvSpPr txBox="1">
            <a:spLocks/>
          </p:cNvSpPr>
          <p:nvPr/>
        </p:nvSpPr>
        <p:spPr>
          <a:xfrm>
            <a:off x="638307" y="1664518"/>
            <a:ext cx="4402323" cy="1216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8000">
                <a:solidFill>
                  <a:srgbClr val="373737"/>
                </a:solidFill>
                <a:latin typeface="Karla" panose="020B0004030503030003" pitchFamily="34" charset="77"/>
              </a:rPr>
              <a:t>Karla</a:t>
            </a:r>
          </a:p>
        </p:txBody>
      </p:sp>
      <p:sp>
        <p:nvSpPr>
          <p:cNvPr id="20" name="Titolo 1">
            <a:extLst>
              <a:ext uri="{FF2B5EF4-FFF2-40B4-BE49-F238E27FC236}">
                <a16:creationId xmlns:a16="http://schemas.microsoft.com/office/drawing/2014/main" id="{155D7F98-7DB6-5E0B-C8CB-4ACA03E35FB9}"/>
              </a:ext>
            </a:extLst>
          </p:cNvPr>
          <p:cNvSpPr txBox="1">
            <a:spLocks/>
          </p:cNvSpPr>
          <p:nvPr/>
        </p:nvSpPr>
        <p:spPr>
          <a:xfrm>
            <a:off x="684027" y="3258540"/>
            <a:ext cx="4402323" cy="875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000" b="1" err="1">
                <a:solidFill>
                  <a:srgbClr val="007B8B"/>
                </a:solidFill>
                <a:latin typeface="Karla" panose="020B0004030503030003" pitchFamily="34" charset="77"/>
              </a:rPr>
              <a:t>Heading</a:t>
            </a:r>
            <a:r>
              <a:rPr lang="it-IT" sz="5000" b="1">
                <a:solidFill>
                  <a:srgbClr val="007B8B"/>
                </a:solidFill>
                <a:latin typeface="Karla" panose="020B0004030503030003" pitchFamily="34" charset="77"/>
              </a:rPr>
              <a:t> H1</a:t>
            </a:r>
          </a:p>
        </p:txBody>
      </p:sp>
      <p:sp>
        <p:nvSpPr>
          <p:cNvPr id="21" name="Titolo 1">
            <a:extLst>
              <a:ext uri="{FF2B5EF4-FFF2-40B4-BE49-F238E27FC236}">
                <a16:creationId xmlns:a16="http://schemas.microsoft.com/office/drawing/2014/main" id="{25275556-83B5-F8DD-050B-7C8C511604D5}"/>
              </a:ext>
            </a:extLst>
          </p:cNvPr>
          <p:cNvSpPr txBox="1">
            <a:spLocks/>
          </p:cNvSpPr>
          <p:nvPr/>
        </p:nvSpPr>
        <p:spPr>
          <a:xfrm>
            <a:off x="684027" y="4224675"/>
            <a:ext cx="4402323" cy="875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err="1">
                <a:solidFill>
                  <a:srgbClr val="007B8B"/>
                </a:solidFill>
                <a:latin typeface="Karla" panose="020B0004030503030003" pitchFamily="34" charset="77"/>
              </a:rPr>
              <a:t>Heading</a:t>
            </a:r>
            <a:r>
              <a:rPr lang="it-IT" sz="4000" b="1">
                <a:solidFill>
                  <a:srgbClr val="007B8B"/>
                </a:solidFill>
                <a:latin typeface="Karla" panose="020B0004030503030003" pitchFamily="34" charset="77"/>
              </a:rPr>
              <a:t> H2</a:t>
            </a:r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EF0DA7E7-A0D5-D62C-632E-6DF77D0E6570}"/>
              </a:ext>
            </a:extLst>
          </p:cNvPr>
          <p:cNvSpPr txBox="1">
            <a:spLocks/>
          </p:cNvSpPr>
          <p:nvPr/>
        </p:nvSpPr>
        <p:spPr>
          <a:xfrm>
            <a:off x="684027" y="5190810"/>
            <a:ext cx="4402323" cy="875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500" b="1" err="1">
                <a:solidFill>
                  <a:srgbClr val="007B8B"/>
                </a:solidFill>
                <a:latin typeface="Karla" panose="020B0004030503030003" pitchFamily="34" charset="77"/>
              </a:rPr>
              <a:t>Heading</a:t>
            </a:r>
            <a:r>
              <a:rPr lang="it-IT" sz="3500" b="1">
                <a:solidFill>
                  <a:srgbClr val="007B8B"/>
                </a:solidFill>
                <a:latin typeface="Karla" panose="020B0004030503030003" pitchFamily="34" charset="77"/>
              </a:rPr>
              <a:t> H3</a:t>
            </a:r>
          </a:p>
        </p:txBody>
      </p:sp>
    </p:spTree>
    <p:extLst>
      <p:ext uri="{BB962C8B-B14F-4D97-AF65-F5344CB8AC3E}">
        <p14:creationId xmlns:p14="http://schemas.microsoft.com/office/powerpoint/2010/main" val="2967430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E7DB20-391C-5130-EF26-0294F91943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0272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421" imgH="423" progId="TCLayout.ActiveDocument.1">
                  <p:embed/>
                </p:oleObj>
              </mc:Choice>
              <mc:Fallback>
                <p:oleObj name="Diapositiva think-cell" r:id="rId3" imgW="421" imgH="42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E7DB20-391C-5130-EF26-0294F91943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olo 3">
            <a:extLst>
              <a:ext uri="{FF2B5EF4-FFF2-40B4-BE49-F238E27FC236}">
                <a16:creationId xmlns:a16="http://schemas.microsoft.com/office/drawing/2014/main" id="{33AC86B5-DDE4-EACE-1053-A9364C560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it-IT"/>
              <a:t>GRAZIE</a:t>
            </a:r>
          </a:p>
        </p:txBody>
      </p:sp>
    </p:spTree>
    <p:extLst>
      <p:ext uri="{BB962C8B-B14F-4D97-AF65-F5344CB8AC3E}">
        <p14:creationId xmlns:p14="http://schemas.microsoft.com/office/powerpoint/2010/main" val="33720583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i Office">
  <a:themeElements>
    <a:clrScheme name="Personalizzati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8E100"/>
      </a:accent1>
      <a:accent2>
        <a:srgbClr val="00A8B0"/>
      </a:accent2>
      <a:accent3>
        <a:srgbClr val="005CA9"/>
      </a:accent3>
      <a:accent4>
        <a:srgbClr val="AFCB37"/>
      </a:accent4>
      <a:accent5>
        <a:srgbClr val="9BD5E3"/>
      </a:accent5>
      <a:accent6>
        <a:srgbClr val="006EB7"/>
      </a:accent6>
      <a:hlink>
        <a:srgbClr val="2C81B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1ec16c5-e599-4756-a812-3eb1edb73d71" xsi:nil="true"/>
    <lcf76f155ced4ddcb4097134ff3c332f xmlns="3c3adccf-65d9-4df9-88ba-38b594c255f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46C1937DB5B4AAA6CFB261F3DAA90" ma:contentTypeVersion="13" ma:contentTypeDescription="Create a new document." ma:contentTypeScope="" ma:versionID="4ca517649253e18ad0a32c279c4dc020">
  <xsd:schema xmlns:xsd="http://www.w3.org/2001/XMLSchema" xmlns:xs="http://www.w3.org/2001/XMLSchema" xmlns:p="http://schemas.microsoft.com/office/2006/metadata/properties" xmlns:ns2="3c3adccf-65d9-4df9-88ba-38b594c255fa" xmlns:ns3="d1ec16c5-e599-4756-a812-3eb1edb73d71" targetNamespace="http://schemas.microsoft.com/office/2006/metadata/properties" ma:root="true" ma:fieldsID="abfd3de08c77103e6f8a9af8b4f23a23" ns2:_="" ns3:_="">
    <xsd:import namespace="3c3adccf-65d9-4df9-88ba-38b594c255fa"/>
    <xsd:import namespace="d1ec16c5-e599-4756-a812-3eb1edb73d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adccf-65d9-4df9-88ba-38b594c25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acac59a-e31e-46ef-bf6f-7688a8aba4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ec16c5-e599-4756-a812-3eb1edb73d7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0170f06-cdd2-4136-8a3c-85a7e4b530ce}" ma:internalName="TaxCatchAll" ma:showField="CatchAllData" ma:web="d1ec16c5-e599-4756-a812-3eb1edb73d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03B435-6D0B-4175-AC5A-F299DFF5A5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97E0C6-9FA8-4A08-BF3E-C729E5BE56F1}">
  <ds:schemaRefs>
    <ds:schemaRef ds:uri="3c3adccf-65d9-4df9-88ba-38b594c255fa"/>
    <ds:schemaRef ds:uri="d1ec16c5-e599-4756-a812-3eb1edb73d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739E14-D194-4CA2-B4A3-C75EC4366368}">
  <ds:schemaRefs>
    <ds:schemaRef ds:uri="3c3adccf-65d9-4df9-88ba-38b594c255fa"/>
    <ds:schemaRef ds:uri="d1ec16c5-e599-4756-a812-3eb1edb73d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543</Words>
  <Application>Microsoft Office PowerPoint</Application>
  <PresentationFormat>Widescreen</PresentationFormat>
  <Paragraphs>120</Paragraphs>
  <Slides>17</Slides>
  <Notes>7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7" baseType="lpstr">
      <vt:lpstr>Arial</vt:lpstr>
      <vt:lpstr>Arial,Sans-Serif</vt:lpstr>
      <vt:lpstr>Calibri</vt:lpstr>
      <vt:lpstr>Gill San</vt:lpstr>
      <vt:lpstr>Gill Sans</vt:lpstr>
      <vt:lpstr>Gill Sans MT</vt:lpstr>
      <vt:lpstr>Gill Sans SemiBold</vt:lpstr>
      <vt:lpstr>Karla</vt:lpstr>
      <vt:lpstr>Tema di Office</vt:lpstr>
      <vt:lpstr>Diapositiva think-cell</vt:lpstr>
      <vt:lpstr>ACEA ENERGIA  GUIDELINES DIGITAL</vt:lpstr>
      <vt:lpstr>01. Loghi  Acea Energia</vt:lpstr>
      <vt:lpstr>Loghi Acea Energia</vt:lpstr>
      <vt:lpstr>Loghi Acea Energia</vt:lpstr>
      <vt:lpstr>Loghi Acea Energia</vt:lpstr>
      <vt:lpstr>02. Palette colori</vt:lpstr>
      <vt:lpstr>Palette colori</vt:lpstr>
      <vt:lpstr>Palette colori</vt:lpstr>
      <vt:lpstr>Palette colori</vt:lpstr>
      <vt:lpstr>Palette colori</vt:lpstr>
      <vt:lpstr>Palette colori</vt:lpstr>
      <vt:lpstr>Palette colori</vt:lpstr>
      <vt:lpstr>03. Icon set</vt:lpstr>
      <vt:lpstr>Icon set</vt:lpstr>
      <vt:lpstr>04. Typography</vt:lpstr>
      <vt:lpstr>Typography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MODULISTICA POWER POINT</dc:title>
  <dc:creator>isa perrone</dc:creator>
  <cp:lastModifiedBy>Norma Tambasco</cp:lastModifiedBy>
  <cp:revision>3</cp:revision>
  <cp:lastPrinted>2017-03-10T09:52:17Z</cp:lastPrinted>
  <dcterms:created xsi:type="dcterms:W3CDTF">2017-04-05T13:36:18Z</dcterms:created>
  <dcterms:modified xsi:type="dcterms:W3CDTF">2025-01-27T13:29:24Z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0x010100E4346C1937DB5B4AAA6CFB261F3DAA90</vt:lpwstr>
  </property>
  <property fmtid="{D5CDD505-2E9C-101B-9397-08002B2CF9AE}" pid="3" name="MediaServiceImageTags">
    <vt:lpwstr/>
  </property>
</Properties>
</file>